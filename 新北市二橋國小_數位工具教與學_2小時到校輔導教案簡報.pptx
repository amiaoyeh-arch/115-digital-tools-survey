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D38"/>
          </a:solidFill>
          <a:ln>
            <a:solidFill>
              <a:srgbClr val="214D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52B788"/>
                </a:solidFill>
                <a:latin typeface="Microsoft JhengHei"/>
              </a:defRPr>
            </a:pPr>
            <a:r>
              <a:t>新北市學習共同體輔導團｜到校輔導專案</a:t>
            </a:r>
          </a:p>
          <a:p>
            <a:pPr>
              <a:spcAft>
                <a:spcPts val="1600"/>
              </a:spcAft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新北市二橋國小「數位工具教與學」</a:t>
            </a:r>
            <a:br/>
            <a:r>
              <a:t>2小時入校輔導課程設計教案</a:t>
            </a:r>
          </a:p>
          <a:p>
            <a:pPr>
              <a:spcAft>
                <a:spcPts val="2800"/>
              </a:spcAft>
              <a:defRPr sz="1600">
                <a:solidFill>
                  <a:srgbClr val="D8F3DC"/>
                </a:solidFill>
                <a:latin typeface="Microsoft JhengHei"/>
              </a:defRPr>
            </a:pPr>
            <a:r>
              <a:t>🎯 依據 19 位教師真實前置問卷診斷・精準破除載具分心・AI Agent 命製伸展跳躍任務</a:t>
            </a:r>
          </a:p>
          <a:p>
            <a:pPr>
              <a:defRPr sz="1200">
                <a:solidFill>
                  <a:srgbClr val="B7E4C7"/>
                </a:solidFill>
                <a:latin typeface="Microsoft JhengHei"/>
              </a:defRPr>
            </a:pPr>
            <a:r>
              <a:t>研習對象：新北市二橋國小全體教師　｜　研習時間：120 分鐘（2小時實作工作坊）</a:t>
            </a:r>
            <a:br/>
            <a:r>
              <a:t>教案規劃：學習共同體輔導團　｜　數據來源：115數位工具教與學前置問卷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二橋國小問卷診斷：全校教師學情畫像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194560" cy="4114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👥 年段分佈平均 (19位)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低年級 4 位 (21%)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中年級 4 位 (21%)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高年級 4 位 (21%)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行政教師 4 位 (21%)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科任教師 3 位 (16%)</a:t>
            </a:r>
          </a:p>
          <a:p>
            <a:pPr>
              <a:spcBef>
                <a:spcPts val="800"/>
              </a:spcBef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★ 各學段均衡，研習需兼顧跨段需求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1880" y="1645920"/>
            <a:ext cx="2194560" cy="4114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🏆 資深骨幹佔比 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資深領航 (21年以上) 7 位 (37%)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中生代 (4~10年) 6 位 (32%)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資深教師 (11~20年) 5 位 (26%)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初任教師 1 位 (5%)</a:t>
            </a:r>
          </a:p>
          <a:p>
            <a:pPr>
              <a:spcBef>
                <a:spcPts val="800"/>
              </a:spcBef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★ 教學底蘊極深，需提供高層次整合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645920"/>
            <a:ext cx="2194560" cy="41148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🖥️ 關鍵硬體優勢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100% (19/19) 教室內建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86 吋以上大型觸控互動螢幕！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學生 1:1 iPad：5 班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小組共用 / 預約車：3 班</a:t>
            </a:r>
          </a:p>
          <a:p>
            <a:pPr>
              <a:spcBef>
                <a:spcPts val="800"/>
              </a:spcBef>
              <a:defRPr sz="1100" b="1">
                <a:solidFill>
                  <a:srgbClr val="E76F51"/>
                </a:solidFill>
                <a:latin typeface="Microsoft JhengHei"/>
              </a:defRPr>
            </a:pPr>
            <a:r>
              <a:t>★ 研習重心應放在大螢幕共構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06840" y="1645920"/>
            <a:ext cx="2194560" cy="411480"/>
          </a:xfrm>
          <a:prstGeom prst="round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📱 載具使用頻率呈現雙峰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幾乎每堂課使用 (4次+)：37%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較少使用 (每月1~2次)：26%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偶爾使用 (每週1次)：16%</a:t>
            </a:r>
          </a:p>
          <a:p>
            <a:pPr>
              <a:spcAft>
                <a:spcPts val="4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極少使用 / 經常使用：各 11%</a:t>
            </a:r>
          </a:p>
          <a:p>
            <a:pPr>
              <a:spcBef>
                <a:spcPts val="800"/>
              </a:spcBef>
              <a:defRPr sz="1100" b="1">
                <a:solidFill>
                  <a:srgbClr val="E09F3E"/>
                </a:solidFill>
                <a:latin typeface="Microsoft JhengHei"/>
              </a:defRPr>
            </a:pPr>
            <a:r>
              <a:t>★ 高頻者與觀望者並存，需階梯引導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現場三大痛點魔王 vs 研習期待票選 Top 3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E76F51"/>
                </a:solidFill>
                <a:latin typeface="Microsoft JhengHei"/>
              </a:defRPr>
            </a:pPr>
            <a:r>
              <a:t>🚨 二橋教師最大的三個課堂卡點</a:t>
            </a:r>
          </a:p>
          <a:p>
            <a:pPr>
              <a:spcAft>
                <a:spcPts val="200"/>
              </a:spcAft>
              <a:defRPr sz="1200" b="1">
                <a:solidFill>
                  <a:srgbClr val="2B2D42"/>
                </a:solidFill>
                <a:latin typeface="Microsoft JhengHei"/>
              </a:defRPr>
            </a:pPr>
            <a:r>
              <a:t>1. 載具分心與破壞傾聽 (53%)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學生玩遊戲、發呆、不專心聆聽同伴發言；螢幕亮著時，眼神不再聚焦同伴。</a:t>
            </a:r>
          </a:p>
          <a:p>
            <a:pPr>
              <a:spcAft>
                <a:spcPts val="200"/>
              </a:spcAft>
              <a:defRPr sz="1200" b="1">
                <a:solidFill>
                  <a:srgbClr val="2B2D42"/>
                </a:solidFill>
                <a:latin typeface="Microsoft JhengHei"/>
              </a:defRPr>
            </a:pPr>
            <a:r>
              <a:t>2. 操作載具耗時太久 (47%)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帳號登入繁瑣、連線不穩；搞載具吃掉原本最珍貴的小組對話與深思時間。</a:t>
            </a:r>
          </a:p>
          <a:p>
            <a:pPr>
              <a:spcAft>
                <a:spcPts val="200"/>
              </a:spcAft>
              <a:defRPr sz="1200" b="1">
                <a:solidFill>
                  <a:srgbClr val="2B2D42"/>
                </a:solidFill>
                <a:latin typeface="Microsoft JhengHei"/>
              </a:defRPr>
            </a:pPr>
            <a:r>
              <a:t>3. 缺乏教材與跳躍題設計指引 (32%)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不知道如何用數位工具設計出有層次的伸展跳躍任務（自評信心僅 2.68 分！）。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D6A4F"/>
                </a:solidFill>
                <a:latin typeface="Microsoft JhengHei"/>
              </a:defRPr>
            </a:pPr>
            <a:r>
              <a:t>🎯 研習實作模組票選期待排行</a:t>
            </a:r>
          </a:p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Microsoft JhengHei"/>
              </a:defRPr>
            </a:pPr>
            <a:r>
              <a:t>🥇 【模組A】AI Agent 命製跳躍任務 (10票 / 53%)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利用 Antigravity / Gemini / NotebookLM 備課，3分鐘產出跳躍任務與引導提問。</a:t>
            </a:r>
          </a:p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Microsoft JhengHei"/>
              </a:defRPr>
            </a:pPr>
            <a:r>
              <a:t>🥈 【模組B】Padlet 小組共學互學神器 (9票 / 47%)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免付費數位互動工具，支援小組共學互學與全班思維在大螢幕上的串聯。</a:t>
            </a:r>
          </a:p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Microsoft JhengHei"/>
              </a:defRPr>
            </a:pPr>
            <a:r>
              <a:t>🥉 【模組D】破除數位分心與班級經營 (8票 / 42%)</a:t>
            </a:r>
          </a:p>
          <a:p>
            <a:pPr>
              <a:spcAft>
                <a:spcPts val="800"/>
              </a:spcAft>
              <a:defRPr sz="1050">
                <a:solidFill>
                  <a:srgbClr val="6C757D"/>
                </a:solidFill>
                <a:latin typeface="Microsoft JhengHei"/>
              </a:defRPr>
            </a:pPr>
            <a:r>
              <a:t>學習共同體下的載具班規、螢幕反轉法與快速派發常規，徹底終結耗時。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課程設計核心理念：二橋專屬破局三策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t>策略一：常規先行，守護實體傾聽</a:t>
            </a:r>
          </a:p>
          <a:p>
            <a:pPr>
              <a:spcAft>
                <a:spcPts val="1400"/>
              </a:spcAft>
              <a:defRPr sz="1000">
                <a:solidFill>
                  <a:srgbClr val="6C757D"/>
                </a:solidFill>
                <a:latin typeface="Microsoft JhengHei"/>
              </a:defRPr>
            </a:pPr>
            <a:r>
              <a:t>破除『載具分心』痛點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實踐『三秒蓋板 / 螢幕反轉』常規：發言時眼看同伴，載具平放。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免帳號極速入場：QR-Code 一掃即進，把登入時間由 10 分鐘壓到 30 秒。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平板是『思維筆記本』而非娛樂載具，守護課堂溫潤眼神對話。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09F3E"/>
                </a:solidFill>
                <a:latin typeface="Microsoft JhengHei"/>
              </a:defRPr>
            </a:pPr>
            <a:r>
              <a:t>策略二：善用全校 86吋大螢幕優勢</a:t>
            </a:r>
          </a:p>
          <a:p>
            <a:pPr>
              <a:spcAft>
                <a:spcPts val="1400"/>
              </a:spcAft>
              <a:defRPr sz="1000">
                <a:solidFill>
                  <a:srgbClr val="6C757D"/>
                </a:solidFill>
                <a:latin typeface="Microsoft JhengHei"/>
              </a:defRPr>
            </a:pPr>
            <a:r>
              <a:t>破除『各自埋頭』孤島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不讓全班每人埋頭看小平板，改以 4人一組共用 1 載具共學。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各組多元思考與疑惑一秒推播至黑板 86吋大螢幕。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老師直接在觸控大屏上圈選、拉線、對比，促發高階共構對話。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76F51"/>
                </a:solidFill>
                <a:latin typeface="Microsoft JhengHei"/>
              </a:defRPr>
            </a:pPr>
            <a:r>
              <a:t>策略三：AI 賦能命製伸展跳躍任務</a:t>
            </a:r>
          </a:p>
          <a:p>
            <a:pPr>
              <a:spcAft>
                <a:spcPts val="1400"/>
              </a:spcAft>
              <a:defRPr sz="1000">
                <a:solidFill>
                  <a:srgbClr val="6C757D"/>
                </a:solidFill>
                <a:latin typeface="Microsoft JhengHei"/>
              </a:defRPr>
            </a:pPr>
            <a:r>
              <a:t>突破『2.68分設計信心』瓶頸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將康軒/南一/翰林課本段落丟給 AI，3分鐘解構文本三層次。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產出符合學共哲學的『伸展跳躍任務 (Jumping Task)』與階梯題。</a:t>
            </a:r>
          </a:p>
          <a:p>
            <a:pPr>
              <a:spcAft>
                <a:spcPts val="800"/>
              </a:spcAft>
              <a:defRPr sz="1100">
                <a:solidFill>
                  <a:srgbClr val="2B2D42"/>
                </a:solidFill>
                <a:latin typeface="Microsoft JhengHei"/>
              </a:defRPr>
            </a:pPr>
            <a:r>
              <a:t>• 現場帶著全體老師實作，每人帶走下週立即可用的教案！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2小時工作坊教案流程總覽（精確至分鐘）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5029200"/>
                <a:gridCol w="2041855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時間配比</a:t>
                      </a:r>
                    </a:p>
                  </a:txBody>
                  <a:tcPr>
                    <a:solidFill>
                      <a:srgbClr val="214D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環節主題</a:t>
                      </a:r>
                    </a:p>
                  </a:txBody>
                  <a:tcPr>
                    <a:solidFill>
                      <a:srgbClr val="214D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研習內容與教師實作任務</a:t>
                      </a:r>
                    </a:p>
                  </a:txBody>
                  <a:tcPr>
                    <a:solidFill>
                      <a:srgbClr val="214D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對接模組與痛點</a:t>
                      </a:r>
                    </a:p>
                  </a:txBody>
                  <a:tcPr>
                    <a:solidFill>
                      <a:srgbClr val="214D3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00:00 - 00:15</a:t>
                      </a:r>
                    </a:p>
                    <a:p>
                      <a:r>
                        <a:t>(15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【起】現場共鳴</a:t>
                      </a:r>
                    </a:p>
                    <a:p>
                      <a:r>
                        <a:t>二橋數據健檢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1. 投放大螢幕展示二橋 19 位教師真實填答痛點雷達圖</a:t>
                      </a:r>
                    </a:p>
                    <a:p>
                      <a:r>
                        <a:t>2. 點破關鍵盲點：「數位不是主角，傾聽關係才是靈魂」</a:t>
                      </a:r>
                    </a:p>
                    <a:p>
                      <a:r>
                        <a:t>3. 確立今日目標：下週一就能直接帶進班級的輕量化流程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破冰引導</a:t>
                      </a:r>
                    </a:p>
                    <a:p>
                      <a:r>
                        <a:t>化解載具焦慮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00:15 - 00:40</a:t>
                      </a:r>
                    </a:p>
                    <a:p>
                      <a:r>
                        <a:t>(25 分鐘)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【承】破除分心</a:t>
                      </a:r>
                    </a:p>
                    <a:p>
                      <a:r>
                        <a:t>學共載具常規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1. 免帳號極速入場法：QR-Code 30秒直達，免去繁瑣登入</a:t>
                      </a:r>
                    </a:p>
                    <a:p>
                      <a:r>
                        <a:t>2. 「螢幕蓋板 / 視線回收」三步驟：說話看眼睛、平放載具</a:t>
                      </a:r>
                    </a:p>
                    <a:p>
                      <a:r>
                        <a:t>3. 低年級專用防卡關：顏色分組標籤、拍照語音上傳法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【模組 D】</a:t>
                      </a:r>
                    </a:p>
                    <a:p>
                      <a:r>
                        <a:t>破除載具分心</a:t>
                      </a:r>
                    </a:p>
                    <a:p>
                      <a:r>
                        <a:t>消滅操作耗時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00:40 - 01:10</a:t>
                      </a:r>
                    </a:p>
                    <a:p>
                      <a:r>
                        <a:t>(30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【轉】小組共學</a:t>
                      </a:r>
                    </a:p>
                    <a:p>
                      <a:r>
                        <a:t>思維可視大屏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1. 4人小組共用 1 平板：Padlet 免登入互動牆實務演練</a:t>
                      </a:r>
                    </a:p>
                    <a:p>
                      <a:r>
                        <a:t>2. 86吋觸控大螢幕串聯：把各組解法秒投大屏，現場圈選對比</a:t>
                      </a:r>
                    </a:p>
                    <a:p>
                      <a:r>
                        <a:t>3. 促發互學共構：從個別作業轉變為全班高光思維對話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【模組 B】</a:t>
                      </a:r>
                    </a:p>
                    <a:p>
                      <a:r>
                        <a:t>共學互學神器</a:t>
                      </a:r>
                    </a:p>
                    <a:p>
                      <a:r>
                        <a:t>全班大螢幕對話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01:10 - 01:50</a:t>
                      </a:r>
                    </a:p>
                    <a:p>
                      <a:r>
                        <a:t>(40 分鐘)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【合】AI 實戰</a:t>
                      </a:r>
                    </a:p>
                    <a:p>
                      <a:r>
                        <a:t>命製跳躍任務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1. 文本解構三層次：基礎提取 ➔ 推論統整 ➔ 伸展跳躍</a:t>
                      </a:r>
                    </a:p>
                    <a:p>
                      <a:r>
                        <a:t>2. AI 咒語實操：用 Gemini / ChatGPT 30秒生成 Jumping Task</a:t>
                      </a:r>
                    </a:p>
                    <a:p>
                      <a:r>
                        <a:t>3. 實作產出：每位老師現場完成一題下週的跳躍任務教案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【模組 A】</a:t>
                      </a:r>
                    </a:p>
                    <a:p>
                      <a:r>
                        <a:t>AI 輔助備課</a:t>
                      </a:r>
                    </a:p>
                    <a:p>
                      <a:r>
                        <a:t>跳躍題信心提升</a:t>
                      </a:r>
                    </a:p>
                  </a:txBody>
                  <a:tcPr>
                    <a:solidFill>
                      <a:srgbClr val="F0F7F3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01:50 - 02:00</a:t>
                      </a:r>
                    </a:p>
                    <a:p>
                      <a:r>
                        <a:t>(10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【座談】現場回饋</a:t>
                      </a:r>
                    </a:p>
                    <a:p>
                      <a:r>
                        <a:t>二橋個別解惑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1. 現場 Q&amp;A：精準回答二橋老師個別提問（低年級、互動教材）</a:t>
                      </a:r>
                    </a:p>
                    <a:p>
                      <a:r>
                        <a:t>2. 總結收斂：載具少一點，思考深一點；工具當階梯，互學成常規</a:t>
                      </a:r>
                    </a:p>
                    <a:p>
                      <a:r>
                        <a:t>3. 發布「二橋專屬數位學共資源包」雲端共享連結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B2D42"/>
                          </a:solidFill>
                          <a:latin typeface="Microsoft JhengHei"/>
                        </a:defRPr>
                      </a:pPr>
                      <a:r>
                        <a:t>二橋提問現場破解</a:t>
                      </a:r>
                    </a:p>
                    <a:p>
                      <a:r>
                        <a:t>課後陪伴支持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模組 D 深度實務：破除分心與學共載具常規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t>一、 根絕『耗時15分鐘』的極速登入常規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傳統痛點：學生忘記帳號密碼、大小寫分不清，光登入就消耗半堂課。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解決對策：全面採用『零登入 / 免帳號 QR-Code』與短網址代碼直達。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課堂成效：開機掃描 30 秒進入討論情境，把完整時間還給小組深思！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76F51"/>
                </a:solidFill>
                <a:latin typeface="Microsoft JhengHei"/>
              </a:defRPr>
            </a:pPr>
            <a:r>
              <a:t>二、 守護眼神與語言的『三秒蓋板三步驟』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步驟 1：【倒數指令】講師/組長口令『3、2、1，螢幕蓋板』。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步驟 2：【姿態重置】平板面朝下平放桌角，雙手自然置於桌面。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步驟 3：【視線聚焦】雙眼抬起注視發言夥伴，啟動高專注實體傾聽。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09F3E"/>
                </a:solidFill>
                <a:latin typeface="Microsoft JhengHei"/>
              </a:defRPr>
            </a:pPr>
            <a:r>
              <a:t>三、 低年級學童的『防卡關三法寶』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法寶 1：【顏色組別平板】平板背貼紅藍黃綠貼紙，依組領取，不分個人。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法寶 2：【免注音輸入】改用麥克風語音輸入，或拍下小白板實體操作。</a:t>
            </a:r>
          </a:p>
          <a:p>
            <a:pPr>
              <a:spcAft>
                <a:spcPts val="2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法寶 3：【大圖示桌面捷徑】桌面僅留單一圖示，點開直接就是當日任務。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模組 B 深度實務：Padlet 小組共學與 86吋大屏共構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D6A4F"/>
                </a:solidFill>
                <a:latin typeface="Microsoft JhengHei"/>
              </a:defRPr>
            </a:pPr>
            <a:r>
              <a:t>📱 小組輕量共學：4人共用 1 載具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150" b="1">
                <a:solidFill>
                  <a:srgbClr val="2D6A4F"/>
                </a:solidFill>
                <a:latin typeface="Microsoft JhengHei"/>
              </a:defRPr>
            </a:pPr>
            <a:r>
              <a:t>為什麼不推生生用平板？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人手一台平板時，每個人容易淪為『數位孤島』，各滑各的，完全沒有對話！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150" b="1">
                <a:solidFill>
                  <a:srgbClr val="2D6A4F"/>
                </a:solidFill>
                <a:latin typeface="Microsoft JhengHei"/>
              </a:defRPr>
            </a:pPr>
            <a:r>
              <a:t>4人共用 1 載具的魔力：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角色輪替：一人負責記錄，三人專注出主意與探究反思。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實體討論先行：必須在小組達成共識後，才能在平板上傳成果。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Padlet 免費互動牆：小組將解題卡、照片、疑惑卡一鍵張貼。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09F3E"/>
                </a:solidFill>
                <a:latin typeface="Microsoft JhengHei"/>
              </a:defRPr>
            </a:pPr>
            <a:r>
              <a:t>🖥️ 86吋觸控大螢幕：思維可視化共構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150" b="1">
                <a:solidFill>
                  <a:srgbClr val="E09F3E"/>
                </a:solidFill>
                <a:latin typeface="Microsoft JhengHei"/>
              </a:defRPr>
            </a:pPr>
            <a:r>
              <a:t>全校 100% 內建大觸控螢幕的王牌打法：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即時投影全班想法：大螢幕同時並列 6 組的多元解題路徑。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觸控筆畫圈連線：教師或學生直接走上講台，在螢幕上圈出『亮點』與『矛盾』。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促發全班對話：『第2組的算式和第4組有什麼不一樣？誰能看懂他們的想法？』</a:t>
            </a:r>
          </a:p>
          <a:p>
            <a:pPr>
              <a:spcAft>
                <a:spcPts val="400"/>
              </a:spcAft>
              <a:defRPr sz="1050">
                <a:solidFill>
                  <a:srgbClr val="2B2D42"/>
                </a:solidFill>
                <a:latin typeface="Microsoft JhengHei"/>
              </a:defRPr>
            </a:pPr>
            <a:r>
              <a:t>• 從個別作業升華為共構理解：螢幕不是播放投影機，而是共學大黑板！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模組 A 深度實務：AI Agent 命製學共伸展跳躍任務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2D6A4F"/>
                </a:solidFill>
                <a:latin typeface="Microsoft JhengHei"/>
              </a:defRPr>
            </a:pPr>
            <a:r>
              <a:t>層次一：基礎提取題 (挑戰度 30%)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確認學生是否掌握文本事實、核心定義或基本算則。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• 例：文章主角遇到什麼困境？這題的條件有哪些？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E09F3E"/>
                </a:solidFill>
                <a:latin typeface="Microsoft JhengHei"/>
              </a:defRPr>
            </a:pPr>
            <a:r>
              <a:t>層次二：推論統整題 (挑戰度 60%)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小組互學探究不同觀點之間的連結、因果關係或多元解法。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• 例：為什麼主角會做出這個決定？這兩種解法本質相同嗎？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60020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E76F51"/>
                </a:solidFill>
                <a:latin typeface="Microsoft JhengHei"/>
              </a:defRPr>
            </a:pPr>
            <a:r>
              <a:t>層次三：伸展跳躍題 (挑戰度 100% Jumping Task)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高認知挑戰、無單一標準答案、促發同儕相互借力與高光頓悟！</a:t>
            </a:r>
          </a:p>
          <a:p>
            <a:pPr>
              <a:spcAft>
                <a:spcPts val="200"/>
              </a:spcAft>
              <a:defRPr sz="1000">
                <a:solidFill>
                  <a:srgbClr val="2B2D42"/>
                </a:solidFill>
                <a:latin typeface="Microsoft JhengHei"/>
              </a:defRPr>
            </a:pPr>
            <a:r>
              <a:t>• 例：如果結局翻轉，你如何改寫關鍵抉擇？生活中有類似模型嗎？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728655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D6A4F"/>
                </a:solidFill>
                <a:latin typeface="Microsoft JhengHei"/>
              </a:defRPr>
            </a:pPr>
            <a:r>
              <a:t>🪄 現場實作：二橋專屬 AI 跳躍任務命題咒語（複製即可貼上 Gemini / ChatGPT）</a:t>
            </a:r>
          </a:p>
          <a:p>
            <a:pPr>
              <a:spcAft>
                <a:spcPts val="100"/>
              </a:spcAft>
              <a:defRPr sz="950">
                <a:solidFill>
                  <a:srgbClr val="2D6A4F"/>
                </a:solidFill>
                <a:latin typeface="Consolas"/>
              </a:defRPr>
            </a:pPr>
            <a:r>
              <a:t>【Prompt 咒語範本】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你是一位專精日本佐藤學『學習共同體』教學法的國小教材專家。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我目前要教授［科目/年級/單元名稱］，附上課文段落或數學核心概念：［貼上課文或概念］。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請為我設計：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1. 2題小組共學互學探究題（促發學生提出不同觀察角度與討論）。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2. 1題高挑戰度的『伸展跳躍任務 (Jumping Task)』（具備認知衝突、開放思考、非單一標準答案，需小組協作共構才能解出）。</a:t>
            </a:r>
          </a:p>
          <a:p>
            <a:pPr>
              <a:spcAft>
                <a:spcPts val="100"/>
              </a:spcAft>
              <a:defRPr sz="950">
                <a:solidFill>
                  <a:srgbClr val="2B2D42"/>
                </a:solidFill>
                <a:latin typeface="Microsoft JhengHei"/>
              </a:defRPr>
            </a:pPr>
            <a:r>
              <a:t>3. 針對跳躍任務，提供老師 3 個課堂引導與追問的理答支架提問。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6A4F"/>
                </a:solidFill>
                <a:latin typeface="Microsoft JhengHei"/>
              </a:defRPr>
            </a:pPr>
            <a:r>
              <a:t>學習共同體輔導團・2小時到校輔導教案建議</a:t>
            </a:r>
          </a:p>
          <a:p>
            <a:pPr>
              <a:defRPr sz="2200" b="1">
                <a:solidFill>
                  <a:srgbClr val="2B2D42"/>
                </a:solidFill>
                <a:latin typeface="Microsoft JhengHei"/>
              </a:defRPr>
            </a:pPr>
            <a:r>
              <a:t>二橋個別提問現場破解：低年級不卡關與互動小遊戲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76F51"/>
                </a:solidFill>
                <a:latin typeface="Microsoft JhengHei"/>
              </a:defRPr>
            </a:pPr>
            <a:r>
              <a:t>❓ 二橋低年級老師提問：</a:t>
            </a:r>
          </a:p>
          <a:p>
            <a:pPr>
              <a:spcAft>
                <a:spcPts val="1200"/>
              </a:spcAft>
              <a:defRPr sz="1300" b="1">
                <a:solidFill>
                  <a:srgbClr val="2B2D42"/>
                </a:solidFill>
                <a:latin typeface="Microsoft JhengHei"/>
              </a:defRPr>
            </a:pPr>
            <a:r>
              <a:t>「低年級學生如何快速上手不卡關？」</a:t>
            </a:r>
          </a:p>
          <a:p>
            <a:pPr>
              <a:spcAft>
                <a:spcPts val="600"/>
              </a:spcAft>
              <a:defRPr sz="1050" b="1">
                <a:solidFill>
                  <a:srgbClr val="2D6A4F"/>
                </a:solidFill>
                <a:latin typeface="Microsoft JhengHei"/>
              </a:defRPr>
            </a:pPr>
            <a:r>
              <a:t>💡 輔導團三階落地解方：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1. 【取消個人帳號】低年級不記帳密！每組固定一台貼有顏色/動物貼紙的公用平板，掃 QR-code 直接進任務。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2. 【語音輸入代替打字】學生按一下注音麥克風直接說話轉文字，識字量少也能表達思維。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3. 【拍照代替複雜操作】實體積木、數學附件擺好後，小組『按拍照鍵』直接傳上 Padlet，3秒完成記錄！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6A4F"/>
                </a:solidFill>
                <a:latin typeface="Microsoft JhengHei"/>
              </a:defRPr>
            </a:pPr>
            <a:r>
              <a:t>❓ 二橋科任/資深老師提問：</a:t>
            </a:r>
          </a:p>
          <a:p>
            <a:pPr>
              <a:spcAft>
                <a:spcPts val="1200"/>
              </a:spcAft>
              <a:defRPr sz="1200" b="1">
                <a:solidFill>
                  <a:srgbClr val="2B2D42"/>
                </a:solidFill>
                <a:latin typeface="Microsoft JhengHei"/>
              </a:defRPr>
            </a:pPr>
            <a:r>
              <a:t>「如何設計互動小遊戲(加入教材)，且不耗費許多時間？」</a:t>
            </a:r>
          </a:p>
          <a:p>
            <a:pPr>
              <a:spcAft>
                <a:spcPts val="600"/>
              </a:spcAft>
              <a:defRPr sz="1050" b="1">
                <a:solidFill>
                  <a:srgbClr val="2D6A4F"/>
                </a:solidFill>
                <a:latin typeface="Microsoft JhengHei"/>
              </a:defRPr>
            </a:pPr>
            <a:r>
              <a:t>💡 輔導團三階落地解方：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1. 【AI 餵料 1分鐘生題庫】將課本文字貼給 Gemini：『產生 5題四選一選擇題』，複製直接匯入 Wordwall。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2. 【Wordwall 一鍵換造型】貼入一次題目，自動切換打地鼠、輪盤、連連看，免重複備課！</a:t>
            </a:r>
          </a:p>
          <a:p>
            <a:pPr>
              <a:spcAft>
                <a:spcPts val="600"/>
              </a:spcAft>
              <a:defRPr sz="1050" b="0">
                <a:solidFill>
                  <a:srgbClr val="2B2D42"/>
                </a:solidFill>
                <a:latin typeface="Microsoft JhengHei"/>
              </a:defRPr>
            </a:pPr>
            <a:r>
              <a:t>3. 【86吋大螢幕雙人擂台】不用發平板！請兩位學生直接上講台用手指在大螢幕搶答，台下全班同步思考，零載具維護！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D38"/>
          </a:solidFill>
          <a:ln>
            <a:solidFill>
              <a:srgbClr val="214D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JhengHei"/>
              </a:defRPr>
            </a:pPr>
            <a:r>
              <a:t>🎁 研習交付成果與課後陪伴資源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212080" cy="1920240"/>
          </a:xfrm>
          <a:prstGeom prst="roundRect">
            <a:avLst/>
          </a:prstGeom>
          <a:solidFill>
            <a:srgbClr val="285C42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📦 成果一：即戰力教案</a:t>
            </a:r>
          </a:p>
          <a:p>
            <a:pPr>
              <a:defRPr sz="1100">
                <a:solidFill>
                  <a:srgbClr val="D8F3DC"/>
                </a:solidFill>
                <a:latin typeface="Microsoft JhengHei"/>
              </a:defRPr>
            </a:pPr>
            <a:r>
              <a:t>每位參與研習的老師，現場完成 1 份下週就能直接進班上陣的學共伸展跳躍任務教案！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920240"/>
          </a:xfrm>
          <a:prstGeom prst="roundRect">
            <a:avLst/>
          </a:prstGeom>
          <a:solidFill>
            <a:srgbClr val="285C42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219456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🪄 成果二：AI 提示詞速查卡</a:t>
            </a:r>
          </a:p>
          <a:p>
            <a:pPr>
              <a:defRPr sz="1100">
                <a:solidFill>
                  <a:srgbClr val="D8F3DC"/>
                </a:solidFill>
                <a:latin typeface="Microsoft JhengHei"/>
              </a:defRPr>
            </a:pPr>
            <a:r>
              <a:t>提供二橋專屬《學共 AI 備課提示詞手冊》，包含國語閱讀、數學多解、自然探究之標準咒語。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1920240"/>
          </a:xfrm>
          <a:prstGeom prst="roundRect">
            <a:avLst/>
          </a:prstGeom>
          <a:solidFill>
            <a:srgbClr val="285C42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97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📋 成果三：學共載具常規檢核表</a:t>
            </a:r>
          </a:p>
          <a:p>
            <a:pPr>
              <a:defRPr sz="1100">
                <a:solidFill>
                  <a:srgbClr val="D8F3DC"/>
                </a:solidFill>
                <a:latin typeface="Microsoft JhengHei"/>
              </a:defRPr>
            </a:pPr>
            <a:r>
              <a:t>提供低年級與中高年級適用的課堂常規檢核清單（螢幕蓋板口令、小組合作評量指標）。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14800"/>
            <a:ext cx="5212080" cy="1920240"/>
          </a:xfrm>
          <a:prstGeom prst="roundRect">
            <a:avLst/>
          </a:prstGeom>
          <a:solidFill>
            <a:srgbClr val="285C42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97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🤝 成果四：輔導團雲端資源庫</a:t>
            </a:r>
          </a:p>
          <a:p>
            <a:pPr>
              <a:defRPr sz="1100">
                <a:solidFill>
                  <a:srgbClr val="D8F3DC"/>
                </a:solidFill>
                <a:latin typeface="Microsoft JhengHei"/>
              </a:defRPr>
            </a:pPr>
            <a:r>
              <a:t>建立二橋國小專屬雲端資料夾，講師範例課件、Padlet 範本、議課影片持續共享更新。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