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326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52B788"/>
                </a:solidFill>
                <a:latin typeface="Microsoft JhengHei"/>
              </a:defRPr>
            </a:pPr>
            <a:r>
              <a:t>新北市學習共同體輔導團｜入校輔導專案</a:t>
            </a:r>
          </a:p>
          <a:p>
            <a:pPr>
              <a:spcAft>
                <a:spcPts val="1800"/>
              </a:spcAft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新北市二橋國小「數位工具教與學」</a:t>
            </a:r>
            <a:br/>
            <a:r>
              <a:t>2 小時到校輔導課程設計教案</a:t>
            </a:r>
          </a:p>
          <a:p>
            <a:pPr>
              <a:spcAft>
                <a:spcPts val="3200"/>
              </a:spcAft>
              <a:defRPr sz="2000" b="1">
                <a:solidFill>
                  <a:srgbClr val="D8F3DC"/>
                </a:solidFill>
                <a:latin typeface="Microsoft JhengHei"/>
              </a:defRPr>
            </a:pPr>
            <a:r>
              <a:t>🎯 依據 19 位全校教師問卷診斷・破除載具分心・AI 命製跳躍任務</a:t>
            </a:r>
          </a:p>
          <a:p>
            <a:pPr>
              <a:defRPr sz="1400">
                <a:solidFill>
                  <a:srgbClr val="B7E4C7"/>
                </a:solidFill>
                <a:latin typeface="Microsoft JhengHei"/>
              </a:defRPr>
            </a:pPr>
            <a:r>
              <a:t>研習對象：新北市二橋國小全體教師　｜　研習時間：120 分鐘（實作工作坊）</a:t>
            </a:r>
            <a:br/>
            <a:r>
              <a:t>教案規劃：新北市學習共同體輔導團　｜　數據來源：115數位工具前置調查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37160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solidFill>
              <a:srgbClr val="F6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D6A4F"/>
                </a:solidFill>
                <a:latin typeface="Microsoft JhengHei"/>
              </a:defRPr>
            </a:pPr>
            <a:r>
              <a:t>學習共同體輔導團・2小時到校輔導教案</a:t>
            </a:r>
          </a:p>
          <a:p>
            <a:pPr>
              <a:defRPr sz="2600" b="1">
                <a:solidFill>
                  <a:srgbClr val="1B4332"/>
                </a:solidFill>
                <a:latin typeface="Microsoft JhengHei"/>
              </a:defRPr>
            </a:pPr>
            <a:r>
              <a:t>二橋國小學情診斷：全校教師四大關鍵畫像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0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25603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D6A4F"/>
                </a:solidFill>
                <a:latin typeface="Microsoft JhengHei"/>
              </a:defRPr>
            </a:pPr>
            <a:r>
              <a:t>👥 年段極均衡</a:t>
            </a:r>
          </a:p>
          <a:p>
            <a:pPr algn="ctr">
              <a:spcAft>
                <a:spcPts val="1200"/>
              </a:spcAft>
              <a:defRPr sz="3200" b="1">
                <a:solidFill>
                  <a:srgbClr val="1B4332"/>
                </a:solidFill>
                <a:latin typeface="Microsoft JhengHei"/>
              </a:defRPr>
            </a:pPr>
            <a:r>
              <a:t>19 位</a:t>
            </a:r>
          </a:p>
          <a:p>
            <a:pPr>
              <a:spcAft>
                <a:spcPts val="300"/>
              </a:spcAft>
              <a:defRPr sz="1500">
                <a:solidFill>
                  <a:srgbClr val="212529"/>
                </a:solidFill>
                <a:latin typeface="Microsoft JhengHei"/>
              </a:defRPr>
            </a:pPr>
            <a:r>
              <a:t>低年級 4 位 (21%)</a:t>
            </a:r>
          </a:p>
          <a:p>
            <a:pPr>
              <a:spcAft>
                <a:spcPts val="300"/>
              </a:spcAft>
              <a:defRPr sz="1500">
                <a:solidFill>
                  <a:srgbClr val="212529"/>
                </a:solidFill>
                <a:latin typeface="Microsoft JhengHei"/>
              </a:defRPr>
            </a:pPr>
            <a:r>
              <a:t>中年級 4 位 (21%)</a:t>
            </a:r>
          </a:p>
          <a:p>
            <a:pPr>
              <a:spcAft>
                <a:spcPts val="300"/>
              </a:spcAft>
              <a:defRPr sz="1500">
                <a:solidFill>
                  <a:srgbClr val="212529"/>
                </a:solidFill>
                <a:latin typeface="Microsoft JhengHei"/>
              </a:defRPr>
            </a:pPr>
            <a:r>
              <a:t>高年級 4 位 (21%)</a:t>
            </a:r>
          </a:p>
          <a:p>
            <a:pPr>
              <a:spcAft>
                <a:spcPts val="300"/>
              </a:spcAft>
              <a:defRPr sz="1500">
                <a:solidFill>
                  <a:srgbClr val="212529"/>
                </a:solidFill>
                <a:latin typeface="Microsoft JhengHei"/>
              </a:defRPr>
            </a:pPr>
            <a:r>
              <a:t>行政科任 7 位 (37%)</a:t>
            </a:r>
          </a:p>
          <a:p>
            <a:pPr>
              <a:spcBef>
                <a:spcPts val="800"/>
              </a:spcBef>
              <a:defRPr sz="1400" b="1">
                <a:solidFill>
                  <a:srgbClr val="2D6A4F"/>
                </a:solidFill>
                <a:latin typeface="Microsoft JhengHei"/>
              </a:defRPr>
            </a:pPr>
            <a:r>
              <a:t>★ 研習兼顧跨學段彈性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08760"/>
            <a:ext cx="25603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D6A4F"/>
                </a:solidFill>
                <a:latin typeface="Microsoft JhengHei"/>
              </a:defRPr>
            </a:pPr>
            <a:r>
              <a:t>🏆 資深骨幹主力</a:t>
            </a:r>
          </a:p>
          <a:p>
            <a:pPr algn="ctr">
              <a:spcAft>
                <a:spcPts val="1200"/>
              </a:spcAft>
              <a:defRPr sz="3200" b="1">
                <a:solidFill>
                  <a:srgbClr val="1B4332"/>
                </a:solidFill>
                <a:latin typeface="Microsoft JhengHei"/>
              </a:defRPr>
            </a:pPr>
            <a:r>
              <a:t>95%</a:t>
            </a:r>
          </a:p>
          <a:p>
            <a:pPr>
              <a:spcAft>
                <a:spcPts val="300"/>
              </a:spcAft>
              <a:defRPr sz="1500">
                <a:solidFill>
                  <a:srgbClr val="212529"/>
                </a:solidFill>
                <a:latin typeface="Microsoft JhengHei"/>
              </a:defRPr>
            </a:pPr>
            <a:r>
              <a:t>21年以上資深 7 位 (37%)</a:t>
            </a:r>
          </a:p>
          <a:p>
            <a:pPr>
              <a:spcAft>
                <a:spcPts val="300"/>
              </a:spcAft>
              <a:defRPr sz="1500">
                <a:solidFill>
                  <a:srgbClr val="212529"/>
                </a:solidFill>
                <a:latin typeface="Microsoft JhengHei"/>
              </a:defRPr>
            </a:pPr>
            <a:r>
              <a:t>中生代教師 6 位 (32%)</a:t>
            </a:r>
          </a:p>
          <a:p>
            <a:pPr>
              <a:spcAft>
                <a:spcPts val="300"/>
              </a:spcAft>
              <a:defRPr sz="1500">
                <a:solidFill>
                  <a:srgbClr val="212529"/>
                </a:solidFill>
                <a:latin typeface="Microsoft JhengHei"/>
              </a:defRPr>
            </a:pPr>
            <a:r>
              <a:t>資深教師 5 位 (26%)</a:t>
            </a:r>
          </a:p>
          <a:p>
            <a:pPr>
              <a:spcBef>
                <a:spcPts val="800"/>
              </a:spcBef>
              <a:defRPr sz="1400" b="1">
                <a:solidFill>
                  <a:srgbClr val="2D6A4F"/>
                </a:solidFill>
                <a:latin typeface="Microsoft JhengHei"/>
              </a:defRPr>
            </a:pPr>
            <a:r>
              <a:t>★ 教學底蘊極深厚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08760"/>
            <a:ext cx="25603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E76F51"/>
                </a:solidFill>
                <a:latin typeface="Microsoft JhengHei"/>
              </a:defRPr>
            </a:pPr>
            <a:r>
              <a:t>🖥️ 關鍵硬體王牌</a:t>
            </a:r>
          </a:p>
          <a:p>
            <a:pPr algn="ctr">
              <a:spcAft>
                <a:spcPts val="1200"/>
              </a:spcAft>
              <a:defRPr sz="3200" b="1">
                <a:solidFill>
                  <a:srgbClr val="1B4332"/>
                </a:solidFill>
                <a:latin typeface="Microsoft JhengHei"/>
              </a:defRPr>
            </a:pPr>
            <a:r>
              <a:t>100%</a:t>
            </a:r>
          </a:p>
          <a:p>
            <a:pPr>
              <a:spcAft>
                <a:spcPts val="300"/>
              </a:spcAft>
              <a:defRPr sz="1500">
                <a:solidFill>
                  <a:srgbClr val="212529"/>
                </a:solidFill>
                <a:latin typeface="Microsoft JhengHei"/>
              </a:defRPr>
            </a:pPr>
            <a:r>
              <a:t>全校 19 班均內建</a:t>
            </a:r>
          </a:p>
          <a:p>
            <a:pPr>
              <a:spcAft>
                <a:spcPts val="300"/>
              </a:spcAft>
              <a:defRPr sz="1500">
                <a:solidFill>
                  <a:srgbClr val="212529"/>
                </a:solidFill>
                <a:latin typeface="Microsoft JhengHei"/>
              </a:defRPr>
            </a:pPr>
            <a:r>
              <a:t>86 吋大型觸控螢幕！</a:t>
            </a:r>
          </a:p>
          <a:p>
            <a:pPr>
              <a:spcAft>
                <a:spcPts val="300"/>
              </a:spcAft>
              <a:defRPr sz="1500">
                <a:solidFill>
                  <a:srgbClr val="212529"/>
                </a:solidFill>
                <a:latin typeface="Microsoft JhengHei"/>
              </a:defRPr>
            </a:pPr>
            <a:r>
              <a:t>(平板抽用或生生用)</a:t>
            </a:r>
          </a:p>
          <a:p>
            <a:pPr>
              <a:spcBef>
                <a:spcPts val="800"/>
              </a:spcBef>
              <a:defRPr sz="1400" b="1">
                <a:solidFill>
                  <a:srgbClr val="E76F51"/>
                </a:solidFill>
                <a:latin typeface="Microsoft JhengHei"/>
              </a:defRPr>
            </a:pPr>
            <a:r>
              <a:t>★ 重點在大螢幕共構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508760"/>
            <a:ext cx="25603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69164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E09F3E"/>
                </a:solidFill>
                <a:latin typeface="Microsoft JhengHei"/>
              </a:defRPr>
            </a:pPr>
            <a:r>
              <a:t>📱 載具使用頻率</a:t>
            </a:r>
          </a:p>
          <a:p>
            <a:pPr algn="ctr">
              <a:spcAft>
                <a:spcPts val="1200"/>
              </a:spcAft>
              <a:defRPr sz="3200" b="1">
                <a:solidFill>
                  <a:srgbClr val="1B4332"/>
                </a:solidFill>
                <a:latin typeface="Microsoft JhengHei"/>
              </a:defRPr>
            </a:pPr>
            <a:r>
              <a:t>雙峰分佈</a:t>
            </a:r>
          </a:p>
          <a:p>
            <a:pPr>
              <a:spcAft>
                <a:spcPts val="300"/>
              </a:spcAft>
              <a:defRPr sz="1500">
                <a:solidFill>
                  <a:srgbClr val="212529"/>
                </a:solidFill>
                <a:latin typeface="Microsoft JhengHei"/>
              </a:defRPr>
            </a:pPr>
            <a:r>
              <a:t>每週4次以上：37%</a:t>
            </a:r>
          </a:p>
          <a:p>
            <a:pPr>
              <a:spcAft>
                <a:spcPts val="300"/>
              </a:spcAft>
              <a:defRPr sz="1500">
                <a:solidFill>
                  <a:srgbClr val="212529"/>
                </a:solidFill>
                <a:latin typeface="Microsoft JhengHei"/>
              </a:defRPr>
            </a:pPr>
            <a:r>
              <a:t>每月1-2次：26%</a:t>
            </a:r>
          </a:p>
          <a:p>
            <a:pPr>
              <a:spcAft>
                <a:spcPts val="300"/>
              </a:spcAft>
              <a:defRPr sz="1500">
                <a:solidFill>
                  <a:srgbClr val="212529"/>
                </a:solidFill>
                <a:latin typeface="Microsoft JhengHei"/>
              </a:defRPr>
            </a:pPr>
            <a:r>
              <a:t>偶爾使用：16%</a:t>
            </a:r>
          </a:p>
          <a:p>
            <a:pPr>
              <a:spcBef>
                <a:spcPts val="800"/>
              </a:spcBef>
              <a:defRPr sz="1400" b="1">
                <a:solidFill>
                  <a:srgbClr val="E09F3E"/>
                </a:solidFill>
                <a:latin typeface="Microsoft JhengHei"/>
              </a:defRPr>
            </a:pPr>
            <a:r>
              <a:t>★ 高頻與少用並存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solidFill>
              <a:srgbClr val="F6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D6A4F"/>
                </a:solidFill>
                <a:latin typeface="Microsoft JhengHei"/>
              </a:defRPr>
            </a:pPr>
            <a:r>
              <a:t>學習共同體輔導團・2小時到校輔導教案</a:t>
            </a:r>
          </a:p>
          <a:p>
            <a:pPr>
              <a:defRPr sz="2600" b="1">
                <a:solidFill>
                  <a:srgbClr val="1B4332"/>
                </a:solidFill>
                <a:latin typeface="Microsoft JhengHei"/>
              </a:defRPr>
            </a:pPr>
            <a:r>
              <a:t>二橋三大痛點魔王 vs 模組票選期待 Top 3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0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E76F51"/>
                </a:solidFill>
                <a:latin typeface="Microsoft JhengHei"/>
              </a:defRPr>
            </a:pPr>
            <a:r>
              <a:t>🚨 二橋教師最大的三個課堂卡點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Microsoft JhengHei"/>
              </a:defRPr>
            </a:pPr>
            <a:r>
              <a:t>1. 載具分心與破壞傾聽 (53%)</a:t>
            </a:r>
          </a:p>
          <a:p>
            <a:pPr>
              <a:spcAft>
                <a:spcPts val="1200"/>
              </a:spcAft>
              <a:defRPr sz="1500">
                <a:solidFill>
                  <a:srgbClr val="495057"/>
                </a:solidFill>
                <a:latin typeface="Microsoft JhengHei"/>
              </a:defRPr>
            </a:pPr>
            <a:r>
              <a:t>玩遊戲、發呆、不聽發言；螢幕亮著時眼神不再注視同伴。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Microsoft JhengHei"/>
              </a:defRPr>
            </a:pPr>
            <a:r>
              <a:t>2. 操作載具耗時太久 (47%)</a:t>
            </a:r>
          </a:p>
          <a:p>
            <a:pPr>
              <a:spcAft>
                <a:spcPts val="1200"/>
              </a:spcAft>
              <a:defRPr sz="1500">
                <a:solidFill>
                  <a:srgbClr val="495057"/>
                </a:solidFill>
                <a:latin typeface="Microsoft JhengHei"/>
              </a:defRPr>
            </a:pPr>
            <a:r>
              <a:t>帳號登入繁瑣、連線不穩；搞載具嚴重壓縮小組深思時間！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Microsoft JhengHei"/>
              </a:defRPr>
            </a:pPr>
            <a:r>
              <a:t>3. 跳躍題設計缺乏指引 (32%)</a:t>
            </a:r>
          </a:p>
          <a:p>
            <a:pPr>
              <a:spcAft>
                <a:spcPts val="1200"/>
              </a:spcAft>
              <a:defRPr sz="1500">
                <a:solidFill>
                  <a:srgbClr val="495057"/>
                </a:solidFill>
                <a:latin typeface="Microsoft JhengHei"/>
              </a:defRPr>
            </a:pPr>
            <a:r>
              <a:t>不知道如何結合數位設計高挑戰題（跳躍題信心僅 2.68 分）。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2D6A4F"/>
                </a:solidFill>
                <a:latin typeface="Microsoft JhengHei"/>
              </a:defRPr>
            </a:pPr>
            <a:r>
              <a:t>🎯 研習實作模組期待排行 Top 3</a:t>
            </a:r>
          </a:p>
          <a:p>
            <a:pPr>
              <a:spcAft>
                <a:spcPts val="200"/>
              </a:spcAft>
              <a:defRPr sz="1700" b="1">
                <a:solidFill>
                  <a:srgbClr val="2D6A4F"/>
                </a:solidFill>
                <a:latin typeface="Microsoft JhengHei"/>
              </a:defRPr>
            </a:pPr>
            <a:r>
              <a:t>🥇 【模組A】AI 命製跳躍任務 (10票 / 53%)</a:t>
            </a:r>
          </a:p>
          <a:p>
            <a:pPr>
              <a:spcAft>
                <a:spcPts val="1200"/>
              </a:spcAft>
              <a:defRPr sz="1500">
                <a:solidFill>
                  <a:srgbClr val="495057"/>
                </a:solidFill>
                <a:latin typeface="Microsoft JhengHei"/>
              </a:defRPr>
            </a:pPr>
            <a:r>
              <a:t>用 Gemini / NotebookLM 備課，3分鐘產出高層次跳躍題。</a:t>
            </a:r>
          </a:p>
          <a:p>
            <a:pPr>
              <a:spcAft>
                <a:spcPts val="200"/>
              </a:spcAft>
              <a:defRPr sz="1700" b="1">
                <a:solidFill>
                  <a:srgbClr val="2D6A4F"/>
                </a:solidFill>
                <a:latin typeface="Microsoft JhengHei"/>
              </a:defRPr>
            </a:pPr>
            <a:r>
              <a:t>🥈 【模組B】Padlet 共學互學神器 (9票 / 47%)</a:t>
            </a:r>
          </a:p>
          <a:p>
            <a:pPr>
              <a:spcAft>
                <a:spcPts val="1200"/>
              </a:spcAft>
              <a:defRPr sz="1500">
                <a:solidFill>
                  <a:srgbClr val="495057"/>
                </a:solidFill>
                <a:latin typeface="Microsoft JhengHei"/>
              </a:defRPr>
            </a:pPr>
            <a:r>
              <a:t>免付費互動牆，小組討論一鍵張貼，串聯大螢幕共構。</a:t>
            </a:r>
          </a:p>
          <a:p>
            <a:pPr>
              <a:spcAft>
                <a:spcPts val="200"/>
              </a:spcAft>
              <a:defRPr sz="1700" b="1">
                <a:solidFill>
                  <a:srgbClr val="2D6A4F"/>
                </a:solidFill>
                <a:latin typeface="Microsoft JhengHei"/>
              </a:defRPr>
            </a:pPr>
            <a:r>
              <a:t>🥉 【模組D】破除分心班級經營 (8票 / 42%)</a:t>
            </a:r>
          </a:p>
          <a:p>
            <a:pPr>
              <a:spcAft>
                <a:spcPts val="1200"/>
              </a:spcAft>
              <a:defRPr sz="1500">
                <a:solidFill>
                  <a:srgbClr val="495057"/>
                </a:solidFill>
                <a:latin typeface="Microsoft JhengHei"/>
              </a:defRPr>
            </a:pPr>
            <a:r>
              <a:t>螢幕反轉法與免登入快速常規，把時間還給學生對話！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solidFill>
              <a:srgbClr val="F6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D6A4F"/>
                </a:solidFill>
                <a:latin typeface="Microsoft JhengHei"/>
              </a:defRPr>
            </a:pPr>
            <a:r>
              <a:t>學習共同體輔導團・2小時到校輔導教案</a:t>
            </a:r>
          </a:p>
          <a:p>
            <a:pPr>
              <a:defRPr sz="2600" b="1">
                <a:solidFill>
                  <a:srgbClr val="1B4332"/>
                </a:solidFill>
                <a:latin typeface="Microsoft JhengHei"/>
              </a:defRPr>
            </a:pPr>
            <a:r>
              <a:t>課程指導心法：二橋專屬破局三策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0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34747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2D6A4F"/>
                </a:solidFill>
                <a:latin typeface="Microsoft JhengHei"/>
              </a:defRPr>
            </a:pPr>
            <a:r>
              <a:t>策略一：常規先行</a:t>
            </a:r>
          </a:p>
          <a:p>
            <a:pPr>
              <a:spcAft>
                <a:spcPts val="1600"/>
              </a:spcAft>
              <a:defRPr sz="1400">
                <a:solidFill>
                  <a:srgbClr val="495057"/>
                </a:solidFill>
                <a:latin typeface="Microsoft JhengHei"/>
              </a:defRPr>
            </a:pPr>
            <a:r>
              <a:t>守護實體傾聽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  <a:latin typeface="Microsoft JhengHei"/>
              </a:defRPr>
            </a:pPr>
            <a:r>
              <a:t>• 實踐『三秒蓋板 / 螢幕反轉』：發言時眼看同伴，載具平放。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  <a:latin typeface="Microsoft JhengHei"/>
              </a:defRPr>
            </a:pPr>
            <a:r>
              <a:t>• 免帳號極速入場：QR-Code 一掃即進，登入由 10分鐘壓到 30秒。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  <a:latin typeface="Microsoft JhengHei"/>
              </a:defRPr>
            </a:pPr>
            <a:r>
              <a:t>• 平板是『思維筆記本』，守護課堂溫潤眼神對話。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4747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E09F3E"/>
                </a:solidFill>
                <a:latin typeface="Microsoft JhengHei"/>
              </a:defRPr>
            </a:pPr>
            <a:r>
              <a:t>策略二：善用 86吋大屏</a:t>
            </a:r>
          </a:p>
          <a:p>
            <a:pPr>
              <a:spcAft>
                <a:spcPts val="1600"/>
              </a:spcAft>
              <a:defRPr sz="1400">
                <a:solidFill>
                  <a:srgbClr val="495057"/>
                </a:solidFill>
                <a:latin typeface="Microsoft JhengHei"/>
              </a:defRPr>
            </a:pPr>
            <a:r>
              <a:t>告別個別孤島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  <a:latin typeface="Microsoft JhengHei"/>
              </a:defRPr>
            </a:pPr>
            <a:r>
              <a:t>• 不推生生用平板各自孤立，改以 4人一組共用 1 載具共學。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  <a:latin typeface="Microsoft JhengHei"/>
              </a:defRPr>
            </a:pPr>
            <a:r>
              <a:t>• 各組多元解法一秒推播至黑板 86 吋觸控大螢幕。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  <a:latin typeface="Microsoft JhengHei"/>
              </a:defRPr>
            </a:pPr>
            <a:r>
              <a:t>• 教師在大屏圈選、對比，促發全班高階共構對話。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508760"/>
            <a:ext cx="34747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E76F51"/>
                </a:solidFill>
                <a:latin typeface="Microsoft JhengHei"/>
              </a:defRPr>
            </a:pPr>
            <a:r>
              <a:t>策略三：AI 命題跳躍題</a:t>
            </a:r>
          </a:p>
          <a:p>
            <a:pPr>
              <a:spcAft>
                <a:spcPts val="1600"/>
              </a:spcAft>
              <a:defRPr sz="1400">
                <a:solidFill>
                  <a:srgbClr val="495057"/>
                </a:solidFill>
                <a:latin typeface="Microsoft JhengHei"/>
              </a:defRPr>
            </a:pPr>
            <a:r>
              <a:t>突破 2.68分信心瓶頸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  <a:latin typeface="Microsoft JhengHei"/>
              </a:defRPr>
            </a:pPr>
            <a:r>
              <a:t>• 課本單元丟給 AI，3分鐘解構文本三層次思維。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  <a:latin typeface="Microsoft JhengHei"/>
              </a:defRPr>
            </a:pPr>
            <a:r>
              <a:t>• 產出具備認知衝突的『伸展跳躍任務 (Jumping Task)』。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  <a:latin typeface="Microsoft JhengHei"/>
              </a:defRPr>
            </a:pPr>
            <a:r>
              <a:t>• 研習現場實作，每位老師帶走下週立即可用的教案！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solidFill>
              <a:srgbClr val="F6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D6A4F"/>
                </a:solidFill>
                <a:latin typeface="Microsoft JhengHei"/>
              </a:defRPr>
            </a:pPr>
            <a:r>
              <a:t>學習共同體輔導團・2小時到校輔導教案</a:t>
            </a:r>
          </a:p>
          <a:p>
            <a:pPr>
              <a:defRPr sz="2600" b="1">
                <a:solidFill>
                  <a:srgbClr val="1B4332"/>
                </a:solidFill>
                <a:latin typeface="Microsoft JhengHei"/>
              </a:defRPr>
            </a:pPr>
            <a:r>
              <a:t>2小時工作坊教案流程總覽（起承轉合）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0"/>
            <a:ext cx="685800" cy="685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4937760"/>
                <a:gridCol w="2041855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時間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環節主題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研習核心實作任務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對接模組與痛點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00:00-00:15</a:t>
                      </a:r>
                    </a:p>
                    <a:p>
                      <a:r>
                        <a:t>(15 分鐘)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【起】現場共鳴</a:t>
                      </a:r>
                    </a:p>
                    <a:p>
                      <a:r>
                        <a:t>二橋數據健檢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• 投放大螢幕展示二橋 19 位教師真實痛點數據</a:t>
                      </a:r>
                    </a:p>
                    <a:p>
                      <a:r>
                        <a:t>• 點破盲點：「數位是梯子，傾聽才是靈魂」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76F51"/>
                          </a:solidFill>
                          <a:latin typeface="Microsoft JhengHei"/>
                        </a:defRPr>
                      </a:pPr>
                      <a:r>
                        <a:t>破冰共鳴</a:t>
                      </a:r>
                    </a:p>
                    <a:p>
                      <a:r>
                        <a:t>化解載具焦慮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00:15-00:40</a:t>
                      </a:r>
                    </a:p>
                    <a:p>
                      <a:r>
                        <a:t>(25 分鐘)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【承】破除分心</a:t>
                      </a:r>
                    </a:p>
                    <a:p>
                      <a:r>
                        <a:t>學共載具常規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• 免帳號極速入場：QR-Code 30秒進入討論</a:t>
                      </a:r>
                    </a:p>
                    <a:p>
                      <a:r>
                        <a:t>• 「三秒蓋板」常規：說話看眼睛、平放載具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76F51"/>
                          </a:solidFill>
                          <a:latin typeface="Microsoft JhengHei"/>
                        </a:defRPr>
                      </a:pPr>
                      <a:r>
                        <a:t>【模組 D】</a:t>
                      </a:r>
                    </a:p>
                    <a:p>
                      <a:r>
                        <a:t>終結操作耗時</a:t>
                      </a:r>
                    </a:p>
                    <a:p>
                      <a:r>
                        <a:t>破除學生分心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00:40-01:10</a:t>
                      </a:r>
                    </a:p>
                    <a:p>
                      <a:r>
                        <a:t>(30 分鐘)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【轉】小組共學</a:t>
                      </a:r>
                    </a:p>
                    <a:p>
                      <a:r>
                        <a:t>思維可視大屏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• 4人小組共用1載具：Padlet 免登入互動演練</a:t>
                      </a:r>
                    </a:p>
                    <a:p>
                      <a:r>
                        <a:t>• 86吋觸控大螢幕串聯：各組解法秒上大屏圈選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76F51"/>
                          </a:solidFill>
                          <a:latin typeface="Microsoft JhengHei"/>
                        </a:defRPr>
                      </a:pPr>
                      <a:r>
                        <a:t>【模組 B】</a:t>
                      </a:r>
                    </a:p>
                    <a:p>
                      <a:r>
                        <a:t>共學互學神器</a:t>
                      </a:r>
                    </a:p>
                    <a:p>
                      <a:r>
                        <a:t>大螢幕高階共構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01:10-01:50</a:t>
                      </a:r>
                    </a:p>
                    <a:p>
                      <a:r>
                        <a:t>(40 分鐘)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【合】AI 實戰</a:t>
                      </a:r>
                    </a:p>
                    <a:p>
                      <a:r>
                        <a:t>命製跳躍任務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• 文本解構三層次：提取 ➔ 統整 ➔ 伸展跳躍</a:t>
                      </a:r>
                    </a:p>
                    <a:p>
                      <a:r>
                        <a:t>• AI 咒語實戰：現場產出下週可用跳躍題教案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76F51"/>
                          </a:solidFill>
                          <a:latin typeface="Microsoft JhengHei"/>
                        </a:defRPr>
                      </a:pPr>
                      <a:r>
                        <a:t>【模組 A】</a:t>
                      </a:r>
                    </a:p>
                    <a:p>
                      <a:r>
                        <a:t>AI 備課賦能</a:t>
                      </a:r>
                    </a:p>
                    <a:p>
                      <a:r>
                        <a:t>跳躍題信心提升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01:50-02:00</a:t>
                      </a:r>
                    </a:p>
                    <a:p>
                      <a:r>
                        <a:t>(10 分鐘)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【座談】現場回饋</a:t>
                      </a:r>
                    </a:p>
                    <a:p>
                      <a:r>
                        <a:t>二橋個別解惑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Microsoft JhengHei"/>
                        </a:defRPr>
                      </a:pPr>
                      <a:r>
                        <a:t>• 精準回答二橋老師個別提問（低年級、互動教材）</a:t>
                      </a:r>
                    </a:p>
                    <a:p>
                      <a:r>
                        <a:t>• 發布「二橋專屬數位學共資源包」雲端連結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76F51"/>
                          </a:solidFill>
                          <a:latin typeface="Microsoft JhengHei"/>
                        </a:defRPr>
                      </a:pPr>
                      <a:r>
                        <a:t>個別提問現場破解</a:t>
                      </a:r>
                    </a:p>
                    <a:p>
                      <a:r>
                        <a:t>課後持續陪伴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solidFill>
              <a:srgbClr val="F6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D6A4F"/>
                </a:solidFill>
                <a:latin typeface="Microsoft JhengHei"/>
              </a:defRPr>
            </a:pPr>
            <a:r>
              <a:t>學習共同體輔導團・2小時到校輔導教案</a:t>
            </a:r>
          </a:p>
          <a:p>
            <a:pPr>
              <a:defRPr sz="2600" b="1">
                <a:solidFill>
                  <a:srgbClr val="1B4332"/>
                </a:solidFill>
                <a:latin typeface="Microsoft JhengHei"/>
              </a:defRPr>
            </a:pPr>
            <a:r>
              <a:t>模組 D 落地實務：破除分心與學共載具常規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0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10728655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18488"/>
            <a:ext cx="1014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2D6A4F"/>
                </a:solidFill>
                <a:latin typeface="Microsoft JhengHei"/>
              </a:defRPr>
            </a:pPr>
            <a:r>
              <a:t>一、 根絕『耗時15分鐘』的極速登入常規</a:t>
            </a:r>
          </a:p>
          <a:p>
            <a:pPr>
              <a:spcAft>
                <a:spcPts val="200"/>
              </a:spcAft>
              <a:defRPr sz="1450">
                <a:solidFill>
                  <a:srgbClr val="212529"/>
                </a:solidFill>
                <a:latin typeface="Microsoft JhengHei"/>
              </a:defRPr>
            </a:pPr>
            <a:r>
              <a:t>• 傳統痛點：學生忘記帳號密碼、大小寫分不清，搞登入消耗半堂課！</a:t>
            </a:r>
          </a:p>
          <a:p>
            <a:pPr>
              <a:spcAft>
                <a:spcPts val="200"/>
              </a:spcAft>
              <a:defRPr sz="1450">
                <a:solidFill>
                  <a:srgbClr val="212529"/>
                </a:solidFill>
                <a:latin typeface="Microsoft JhengHei"/>
              </a:defRPr>
            </a:pPr>
            <a:r>
              <a:t>• 解決對策：全面採用『零登入 / 免帳號 QR-Code』與短網址代碼直達。</a:t>
            </a:r>
          </a:p>
          <a:p>
            <a:pPr>
              <a:spcAft>
                <a:spcPts val="200"/>
              </a:spcAft>
              <a:defRPr sz="1450">
                <a:solidFill>
                  <a:srgbClr val="212529"/>
                </a:solidFill>
                <a:latin typeface="Microsoft JhengHei"/>
              </a:defRPr>
            </a:pPr>
            <a:r>
              <a:t>• 課堂成效：開機掃描 30 秒進入討論情境，把完整時間還給學生深度對話！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39"/>
            <a:ext cx="10728655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72967"/>
            <a:ext cx="1014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76F51"/>
                </a:solidFill>
                <a:latin typeface="Microsoft JhengHei"/>
              </a:defRPr>
            </a:pPr>
            <a:r>
              <a:t>二、 守護眼神與語言的『三秒蓋板三步驟』</a:t>
            </a:r>
          </a:p>
          <a:p>
            <a:pPr>
              <a:spcAft>
                <a:spcPts val="200"/>
              </a:spcAft>
              <a:defRPr sz="1450">
                <a:solidFill>
                  <a:srgbClr val="212529"/>
                </a:solidFill>
                <a:latin typeface="Microsoft JhengHei"/>
              </a:defRPr>
            </a:pPr>
            <a:r>
              <a:t>• 步驟 1【倒數指令】：口令『3、2、1，螢幕蓋板』，全班動作一致。</a:t>
            </a:r>
          </a:p>
          <a:p>
            <a:pPr>
              <a:spcAft>
                <a:spcPts val="200"/>
              </a:spcAft>
              <a:defRPr sz="1450">
                <a:solidFill>
                  <a:srgbClr val="212529"/>
                </a:solidFill>
                <a:latin typeface="Microsoft JhengHei"/>
              </a:defRPr>
            </a:pPr>
            <a:r>
              <a:t>• 步驟 2【姿態重置】：平板面朝下平放桌角，雙手自然置於桌面，停止滑動。</a:t>
            </a:r>
          </a:p>
          <a:p>
            <a:pPr>
              <a:spcAft>
                <a:spcPts val="200"/>
              </a:spcAft>
              <a:defRPr sz="1450">
                <a:solidFill>
                  <a:srgbClr val="212529"/>
                </a:solidFill>
                <a:latin typeface="Microsoft JhengHei"/>
              </a:defRPr>
            </a:pPr>
            <a:r>
              <a:t>• 步驟 3【視線聚焦】：雙眼抬起注視發言夥伴，啟動高專注實體傾聽關係。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10728655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27448"/>
            <a:ext cx="1014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09F3E"/>
                </a:solidFill>
                <a:latin typeface="Microsoft JhengHei"/>
              </a:defRPr>
            </a:pPr>
            <a:r>
              <a:t>三、 低年級學童的『防卡關三法寶』</a:t>
            </a:r>
          </a:p>
          <a:p>
            <a:pPr>
              <a:spcAft>
                <a:spcPts val="200"/>
              </a:spcAft>
              <a:defRPr sz="1450">
                <a:solidFill>
                  <a:srgbClr val="212529"/>
                </a:solidFill>
                <a:latin typeface="Microsoft JhengHei"/>
              </a:defRPr>
            </a:pPr>
            <a:r>
              <a:t>• 法寶 1【顏色組別平板】：背貼大面積紅/藍/黃/綠標籤，依組領取不分個人機。</a:t>
            </a:r>
          </a:p>
          <a:p>
            <a:pPr>
              <a:spcAft>
                <a:spcPts val="200"/>
              </a:spcAft>
              <a:defRPr sz="1450">
                <a:solidFill>
                  <a:srgbClr val="212529"/>
                </a:solidFill>
                <a:latin typeface="Microsoft JhengHei"/>
              </a:defRPr>
            </a:pPr>
            <a:r>
              <a:t>• 法寶 2【免注音打字】：引導學生按下麥克風語音輸入，或拍下小白板實體操作。</a:t>
            </a:r>
          </a:p>
          <a:p>
            <a:pPr>
              <a:spcAft>
                <a:spcPts val="200"/>
              </a:spcAft>
              <a:defRPr sz="1450">
                <a:solidFill>
                  <a:srgbClr val="212529"/>
                </a:solidFill>
                <a:latin typeface="Microsoft JhengHei"/>
              </a:defRPr>
            </a:pPr>
            <a:r>
              <a:t>• 法寶 3【單一桌面捷徑】：桌面僅留一個當日任務網頁捷徑，點開直接開始。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solidFill>
              <a:srgbClr val="F6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D6A4F"/>
                </a:solidFill>
                <a:latin typeface="Microsoft JhengHei"/>
              </a:defRPr>
            </a:pPr>
            <a:r>
              <a:t>學習共同體輔導團・2小時到校輔導教案</a:t>
            </a:r>
          </a:p>
          <a:p>
            <a:pPr>
              <a:defRPr sz="2600" b="1">
                <a:solidFill>
                  <a:srgbClr val="1B4332"/>
                </a:solidFill>
                <a:latin typeface="Microsoft JhengHei"/>
              </a:defRPr>
            </a:pPr>
            <a:r>
              <a:t>模組 B 落地實務：Padlet 小組共學與 86吋大屏共構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0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D6A4F"/>
                </a:solidFill>
                <a:latin typeface="Microsoft JhengHei"/>
              </a:defRPr>
            </a:pPr>
            <a:r>
              <a:t>📱 小組輕量共學：4人共用 1 載具</a:t>
            </a:r>
          </a:p>
          <a:p>
            <a:pPr>
              <a:spcAft>
                <a:spcPts val="600"/>
              </a:spcAft>
              <a:defRPr sz="1600" b="1">
                <a:solidFill>
                  <a:srgbClr val="2D6A4F"/>
                </a:solidFill>
                <a:latin typeface="Microsoft JhengHei"/>
              </a:defRPr>
            </a:pPr>
            <a:r>
              <a:t>為什麼不推生生用平板？</a:t>
            </a:r>
          </a:p>
          <a:p>
            <a:pPr>
              <a:spcAft>
                <a:spcPts val="6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人手一台容易陷入『各自孤島』，各滑各的，完全沒有真正的傾聽與對話！</a:t>
            </a:r>
          </a:p>
          <a:p>
            <a:pPr>
              <a:spcAft>
                <a:spcPts val="600"/>
              </a:spcAft>
              <a:defRPr sz="1600" b="1">
                <a:solidFill>
                  <a:srgbClr val="2D6A4F"/>
                </a:solidFill>
                <a:latin typeface="Microsoft JhengHei"/>
              </a:defRPr>
            </a:pPr>
            <a:r>
              <a:t>4人共用 1 載具的協作魔力：</a:t>
            </a:r>
          </a:p>
          <a:p>
            <a:pPr>
              <a:spcAft>
                <a:spcPts val="6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• 角色輪替：1 人負責操作記錄，其餘 3 人專注發想、檢核與質疑討論。</a:t>
            </a:r>
          </a:p>
          <a:p>
            <a:pPr>
              <a:spcAft>
                <a:spcPts val="6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• 實體對話先行：組內必須先達成共識，才能由記錄者打字或拍照上傳。</a:t>
            </a:r>
          </a:p>
          <a:p>
            <a:pPr>
              <a:spcAft>
                <a:spcPts val="6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• Padlet 零門檻張貼：小組將解法卡、疑惑卡一鍵張貼，隨時回溯思考軌跡。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E09F3E"/>
                </a:solidFill>
                <a:latin typeface="Microsoft JhengHei"/>
              </a:defRPr>
            </a:pPr>
            <a:r>
              <a:t>🖥️ 86吋觸控大螢幕：思維可視化共構</a:t>
            </a:r>
          </a:p>
          <a:p>
            <a:pPr>
              <a:spcAft>
                <a:spcPts val="600"/>
              </a:spcAft>
              <a:defRPr sz="1600" b="1">
                <a:solidFill>
                  <a:srgbClr val="E09F3E"/>
                </a:solidFill>
                <a:latin typeface="Microsoft JhengHei"/>
              </a:defRPr>
            </a:pPr>
            <a:r>
              <a:t>全校 100% 內建大螢幕的最強戰術：</a:t>
            </a:r>
          </a:p>
          <a:p>
            <a:pPr>
              <a:spcAft>
                <a:spcPts val="6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• 全班想法並列：大螢幕同時並列各組思考路徑，告別單組輪流報的枯燥。</a:t>
            </a:r>
          </a:p>
          <a:p>
            <a:pPr>
              <a:spcAft>
                <a:spcPts val="6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• 觸控筆畫圈連線：教師與學生走上講台，直接在大屏圈出亮點與矛盾。</a:t>
            </a:r>
          </a:p>
          <a:p>
            <a:pPr>
              <a:spcAft>
                <a:spcPts val="6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• 促發全班對話：『第 2 組和第 4 組有什麼不同？誰能看懂他們的想法？』</a:t>
            </a:r>
          </a:p>
          <a:p>
            <a:pPr>
              <a:spcAft>
                <a:spcPts val="6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• 從作業升華為共構：大螢幕不是投影機，而是全班共同探究的大黑板！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solidFill>
              <a:srgbClr val="F6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D6A4F"/>
                </a:solidFill>
                <a:latin typeface="Microsoft JhengHei"/>
              </a:defRPr>
            </a:pPr>
            <a:r>
              <a:t>學習共同體輔導團・2小時到校輔導教案</a:t>
            </a:r>
          </a:p>
          <a:p>
            <a:pPr>
              <a:defRPr sz="2600" b="1">
                <a:solidFill>
                  <a:srgbClr val="1B4332"/>
                </a:solidFill>
                <a:latin typeface="Microsoft JhengHei"/>
              </a:defRPr>
            </a:pPr>
            <a:r>
              <a:t>模組 A 落地實務：AI Agent 命製學共伸展跳躍任務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0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34747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D6A4F"/>
                </a:solidFill>
                <a:latin typeface="Microsoft JhengHei"/>
              </a:defRPr>
            </a:pPr>
            <a:r>
              <a:t>層次一：基礎提取題 (30%)</a:t>
            </a:r>
          </a:p>
          <a:p>
            <a:pPr>
              <a:spcAft>
                <a:spcPts val="200"/>
              </a:spcAft>
              <a:defRPr sz="1400">
                <a:solidFill>
                  <a:srgbClr val="212529"/>
                </a:solidFill>
                <a:latin typeface="Microsoft JhengHei"/>
              </a:defRPr>
            </a:pPr>
            <a:r>
              <a:t>掌握課本事實、核心定義或基本算則。</a:t>
            </a:r>
          </a:p>
          <a:p>
            <a:pPr>
              <a:spcAft>
                <a:spcPts val="200"/>
              </a:spcAft>
              <a:defRPr sz="1400">
                <a:solidFill>
                  <a:srgbClr val="212529"/>
                </a:solidFill>
                <a:latin typeface="Microsoft JhengHei"/>
              </a:defRPr>
            </a:pPr>
            <a:r>
              <a:t>• 例：主角遇到什麼困境？這題條件是什麼？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4747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09F3E"/>
                </a:solidFill>
                <a:latin typeface="Microsoft JhengHei"/>
              </a:defRPr>
            </a:pPr>
            <a:r>
              <a:t>層次二：推論統整題 (60%)</a:t>
            </a:r>
          </a:p>
          <a:p>
            <a:pPr>
              <a:spcAft>
                <a:spcPts val="200"/>
              </a:spcAft>
              <a:defRPr sz="1400">
                <a:solidFill>
                  <a:srgbClr val="212529"/>
                </a:solidFill>
                <a:latin typeface="Microsoft JhengHei"/>
              </a:defRPr>
            </a:pPr>
            <a:r>
              <a:t>小組互學探究因果關係與多元解法。</a:t>
            </a:r>
          </a:p>
          <a:p>
            <a:pPr>
              <a:spcAft>
                <a:spcPts val="200"/>
              </a:spcAft>
              <a:defRPr sz="1400">
                <a:solidFill>
                  <a:srgbClr val="212529"/>
                </a:solidFill>
                <a:latin typeface="Microsoft JhengHei"/>
              </a:defRPr>
            </a:pPr>
            <a:r>
              <a:t>• 例：為什麼做此選擇？這兩種算式本質同嗎？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508760"/>
            <a:ext cx="34747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76F51"/>
                </a:solidFill>
                <a:latin typeface="Microsoft JhengHei"/>
              </a:defRPr>
            </a:pPr>
            <a:r>
              <a:t>層次三：伸展跳躍題 (100% Jumping Task)</a:t>
            </a:r>
          </a:p>
          <a:p>
            <a:pPr>
              <a:spcAft>
                <a:spcPts val="200"/>
              </a:spcAft>
              <a:defRPr sz="1400">
                <a:solidFill>
                  <a:srgbClr val="212529"/>
                </a:solidFill>
                <a:latin typeface="Microsoft JhengHei"/>
              </a:defRPr>
            </a:pPr>
            <a:r>
              <a:t>高認知挑戰、開放思考、促發同儕相互借力！</a:t>
            </a:r>
          </a:p>
          <a:p>
            <a:pPr>
              <a:spcAft>
                <a:spcPts val="200"/>
              </a:spcAft>
              <a:defRPr sz="1400">
                <a:solidFill>
                  <a:srgbClr val="212529"/>
                </a:solidFill>
                <a:latin typeface="Microsoft JhengHei"/>
              </a:defRPr>
            </a:pPr>
            <a:r>
              <a:t>• 例：如果結局翻轉，如何改寫？有何生活模型？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10728655" cy="2468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52B788"/>
                </a:solidFill>
                <a:latin typeface="Microsoft JhengHei"/>
              </a:defRPr>
            </a:pPr>
            <a:r>
              <a:t>🪄 現場實作：二橋專屬 AI 跳躍任務命題咒語（複製貼上 Gemini / ChatGPT）</a:t>
            </a:r>
          </a:p>
          <a:p>
            <a:pPr>
              <a:spcAft>
                <a:spcPts val="200"/>
              </a:spcAft>
              <a:defRPr sz="1350">
                <a:solidFill>
                  <a:srgbClr val="F1F5F9"/>
                </a:solidFill>
                <a:latin typeface="Microsoft JhengHei"/>
              </a:defRPr>
            </a:pPr>
            <a:r>
              <a:t>你是一位專精日本佐藤學『學習共同體』教學法的國小教材研發專家。</a:t>
            </a:r>
          </a:p>
          <a:p>
            <a:pPr>
              <a:spcAft>
                <a:spcPts val="200"/>
              </a:spcAft>
              <a:defRPr sz="1350">
                <a:solidFill>
                  <a:srgbClr val="F1F5F9"/>
                </a:solidFill>
                <a:latin typeface="Microsoft JhengHei"/>
              </a:defRPr>
            </a:pPr>
            <a:r>
              <a:t>我目前要教授［科目/年級/單元名稱］，課本段落或核心概念如下：［貼上課文或概念］。</a:t>
            </a:r>
          </a:p>
          <a:p>
            <a:pPr>
              <a:spcAft>
                <a:spcPts val="200"/>
              </a:spcAft>
              <a:defRPr sz="1350">
                <a:solidFill>
                  <a:srgbClr val="F1F5F9"/>
                </a:solidFill>
                <a:latin typeface="Microsoft JhengHei"/>
              </a:defRPr>
            </a:pPr>
            <a:r>
              <a:t>請為我設計：</a:t>
            </a:r>
          </a:p>
          <a:p>
            <a:pPr>
              <a:spcAft>
                <a:spcPts val="200"/>
              </a:spcAft>
              <a:defRPr sz="1350">
                <a:solidFill>
                  <a:srgbClr val="F1F5F9"/>
                </a:solidFill>
                <a:latin typeface="Microsoft JhengHei"/>
              </a:defRPr>
            </a:pPr>
            <a:r>
              <a:t>1. 2 題小組共學互學探究題（促發學生提出不同觀察角度與深層對話）。</a:t>
            </a:r>
          </a:p>
          <a:p>
            <a:pPr>
              <a:spcAft>
                <a:spcPts val="200"/>
              </a:spcAft>
              <a:defRPr sz="1350">
                <a:solidFill>
                  <a:srgbClr val="F1F5F9"/>
                </a:solidFill>
                <a:latin typeface="Microsoft JhengHei"/>
              </a:defRPr>
            </a:pPr>
            <a:r>
              <a:t>2. 1 題高挑戰度的『伸展跳躍任務 (Jumping Task)』（具備認知衝突、開放思考、非單一標準答案）。</a:t>
            </a:r>
          </a:p>
          <a:p>
            <a:pPr>
              <a:spcAft>
                <a:spcPts val="200"/>
              </a:spcAft>
              <a:defRPr sz="1350">
                <a:solidFill>
                  <a:srgbClr val="F1F5F9"/>
                </a:solidFill>
                <a:latin typeface="Microsoft JhengHei"/>
              </a:defRPr>
            </a:pPr>
            <a:r>
              <a:t>3. 針對跳躍任務，提供老師 3 個課堂引導與追問的理答支架提問。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solidFill>
              <a:srgbClr val="F6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D6A4F"/>
                </a:solidFill>
                <a:latin typeface="Microsoft JhengHei"/>
              </a:defRPr>
            </a:pPr>
            <a:r>
              <a:t>學習共同體輔導團・2小時到校輔導教案</a:t>
            </a:r>
          </a:p>
          <a:p>
            <a:pPr>
              <a:defRPr sz="2600" b="1">
                <a:solidFill>
                  <a:srgbClr val="1B4332"/>
                </a:solidFill>
                <a:latin typeface="Microsoft JhengHei"/>
              </a:defRPr>
            </a:pPr>
            <a:r>
              <a:t>二橋個別提問現場破解：低年級不卡關與互動小遊戲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0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76F51"/>
                </a:solidFill>
                <a:latin typeface="Microsoft JhengHei"/>
              </a:defRPr>
            </a:pPr>
            <a:r>
              <a:t>❓ 低年級老師提問：</a:t>
            </a:r>
          </a:p>
          <a:p>
            <a:pPr>
              <a:spcAft>
                <a:spcPts val="1200"/>
              </a:spcAft>
              <a:defRPr sz="1900" b="1">
                <a:solidFill>
                  <a:srgbClr val="1B4332"/>
                </a:solidFill>
                <a:latin typeface="Microsoft JhengHei"/>
              </a:defRPr>
            </a:pPr>
            <a:r>
              <a:t>「低年級學生如何快速上手不卡關？」</a:t>
            </a:r>
          </a:p>
          <a:p>
            <a:pPr>
              <a:spcAft>
                <a:spcPts val="800"/>
              </a:spcAft>
              <a:defRPr sz="1600" b="1">
                <a:solidFill>
                  <a:srgbClr val="2D6A4F"/>
                </a:solidFill>
                <a:latin typeface="Microsoft JhengHei"/>
              </a:defRPr>
            </a:pPr>
            <a:r>
              <a:t>💡 輔導團三階落地解方：</a:t>
            </a:r>
          </a:p>
          <a:p>
            <a:pPr>
              <a:spcAft>
                <a:spcPts val="8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1. 【取消個人帳密】低年級不記帳號！每組 1 台貼顏色標籤的公用平板，掃 QR-code 直接進任務畫面。</a:t>
            </a:r>
          </a:p>
          <a:p>
            <a:pPr>
              <a:spcAft>
                <a:spcPts val="8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2. 【語音輸入代替打字】學生按麥克風說話自動轉文字，識字量少也能暢所欲言表達思維。</a:t>
            </a:r>
          </a:p>
          <a:p>
            <a:pPr>
              <a:spcAft>
                <a:spcPts val="8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3. 【拍照代替複雜操作】實體積木、小白板擺好後，小組『按拍照鍵』直接上傳，3 秒完成記錄！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6A4F"/>
                </a:solidFill>
                <a:latin typeface="Microsoft JhengHei"/>
              </a:defRPr>
            </a:pPr>
            <a:r>
              <a:t>❓ 科任/資深老師提問：</a:t>
            </a:r>
          </a:p>
          <a:p>
            <a:pPr>
              <a:spcAft>
                <a:spcPts val="1200"/>
              </a:spcAft>
              <a:defRPr sz="1800" b="1">
                <a:solidFill>
                  <a:srgbClr val="1B4332"/>
                </a:solidFill>
                <a:latin typeface="Microsoft JhengHei"/>
              </a:defRPr>
            </a:pPr>
            <a:r>
              <a:t>「如何設計互動小遊戲且不耗費許多時間？」</a:t>
            </a:r>
          </a:p>
          <a:p>
            <a:pPr>
              <a:spcAft>
                <a:spcPts val="800"/>
              </a:spcAft>
              <a:defRPr sz="1600" b="1">
                <a:solidFill>
                  <a:srgbClr val="2D6A4F"/>
                </a:solidFill>
                <a:latin typeface="Microsoft JhengHei"/>
              </a:defRPr>
            </a:pPr>
            <a:r>
              <a:t>💡 輔導團三階落地解方：</a:t>
            </a:r>
          </a:p>
          <a:p>
            <a:pPr>
              <a:spcAft>
                <a:spcPts val="8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1. 【AI 餵料 1 分鐘生題庫】將課本貼給 Gemini：『產生 5 題四選一選擇題』，複製直接匯入 Wordwall。</a:t>
            </a:r>
          </a:p>
          <a:p>
            <a:pPr>
              <a:spcAft>
                <a:spcPts val="8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2. 【Wordwall 一鍵換造型】貼入一次題目，系統自動切換打地鼠、輪盤、連連看，免重複備課！</a:t>
            </a:r>
          </a:p>
          <a:p>
            <a:pPr>
              <a:spcAft>
                <a:spcPts val="800"/>
              </a:spcAft>
              <a:defRPr sz="1500" b="0">
                <a:solidFill>
                  <a:srgbClr val="212529"/>
                </a:solidFill>
                <a:latin typeface="Microsoft JhengHei"/>
              </a:defRPr>
            </a:pPr>
            <a:r>
              <a:t>3. 【86吋大螢幕雙人擂台】免發平板！兩位學生直接上台在大螢幕觸控搶答，全班同步觀戰思辨！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2B788"/>
                </a:solidFill>
                <a:latin typeface="Microsoft JhengHei"/>
              </a:defRPr>
            </a:pPr>
            <a:r>
              <a:t>攜手二橋・課後落地有保障</a:t>
            </a:r>
          </a:p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🎁 研習交付成果與課後陪伴資源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212080" cy="2011680"/>
          </a:xfrm>
          <a:prstGeom prst="roundRect">
            <a:avLst/>
          </a:prstGeom>
          <a:solidFill>
            <a:srgbClr val="285C42"/>
          </a:solidFill>
          <a:ln w="254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Microsoft JhengHei"/>
              </a:defRPr>
            </a:pPr>
            <a:r>
              <a:t>📦 成果一：即戰力教案現場產出</a:t>
            </a:r>
          </a:p>
          <a:p>
            <a:pPr>
              <a:defRPr sz="1500">
                <a:solidFill>
                  <a:srgbClr val="D8F3DC"/>
                </a:solidFill>
                <a:latin typeface="Microsoft JhengHei"/>
              </a:defRPr>
            </a:pPr>
            <a:r>
              <a:t>每位參與研習的老師，在 40 分鐘實作中現場完成 1 份下週就能直接進班上陣的學共伸展跳躍任務教案！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920240"/>
            <a:ext cx="5212080" cy="2011680"/>
          </a:xfrm>
          <a:prstGeom prst="roundRect">
            <a:avLst/>
          </a:prstGeom>
          <a:solidFill>
            <a:srgbClr val="285C42"/>
          </a:solidFill>
          <a:ln w="254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488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Microsoft JhengHei"/>
              </a:defRPr>
            </a:pPr>
            <a:r>
              <a:t>🪄 成果二：二橋專屬 AI 提示詞速查卡</a:t>
            </a:r>
          </a:p>
          <a:p>
            <a:pPr>
              <a:defRPr sz="1500">
                <a:solidFill>
                  <a:srgbClr val="D8F3DC"/>
                </a:solidFill>
                <a:latin typeface="Microsoft JhengHei"/>
              </a:defRPr>
            </a:pPr>
            <a:r>
              <a:t>提供二橋教師專屬《學共 AI 備課提示詞手冊》，包含國語閱讀理解、數學多解探究之標準 Prompt。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285C42"/>
          </a:solidFill>
          <a:ln w="254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3434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Microsoft JhengHei"/>
              </a:defRPr>
            </a:pPr>
            <a:r>
              <a:t>📋 成果三：學共載具班級常規檢核表</a:t>
            </a:r>
          </a:p>
          <a:p>
            <a:pPr>
              <a:defRPr sz="1500">
                <a:solidFill>
                  <a:srgbClr val="D8F3DC"/>
                </a:solidFill>
                <a:latin typeface="Microsoft JhengHei"/>
              </a:defRPr>
            </a:pPr>
            <a:r>
              <a:t>提供低年級與中高年級適用的課堂常規檢核清單（螢幕蓋板三步驟口令、4人小組分工合作指標）。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114800"/>
            <a:ext cx="5212080" cy="2011680"/>
          </a:xfrm>
          <a:prstGeom prst="roundRect">
            <a:avLst/>
          </a:prstGeom>
          <a:solidFill>
            <a:srgbClr val="285C42"/>
          </a:solidFill>
          <a:ln w="254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434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Microsoft JhengHei"/>
              </a:defRPr>
            </a:pPr>
            <a:r>
              <a:t>🤝 成果四：輔導團雲端資源庫持續陪伴</a:t>
            </a:r>
          </a:p>
          <a:p>
            <a:pPr>
              <a:defRPr sz="1500">
                <a:solidFill>
                  <a:srgbClr val="D8F3DC"/>
                </a:solidFill>
                <a:latin typeface="Microsoft JhengHei"/>
              </a:defRPr>
            </a:pPr>
            <a:r>
              <a:t>建立二橋國小專屬雲端硬碟，講師示範簡報、Padlet 範本、觀課議課實例影片持續共享與支持更新。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